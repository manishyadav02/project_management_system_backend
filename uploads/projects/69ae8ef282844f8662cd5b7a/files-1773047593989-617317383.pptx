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10" autoAdjust="0"/>
  </p:normalViewPr>
  <p:slideViewPr>
    <p:cSldViewPr snapToGrid="0" snapToObjects="1">
      <p:cViewPr>
        <p:scale>
          <a:sx n="150" d="100"/>
          <a:sy n="150" d="100"/>
        </p:scale>
        <p:origin x="336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15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pexels.com/?utm_source=magicslides.app&amp;utm_medium=presentation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pexels.com/?utm_source=magicslides.app&amp;utm_medium=presenta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exels.com/?utm_source=magicslides.app&amp;utm_medium=presentation" TargetMode="Externa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16922" y="2835366"/>
            <a:ext cx="4556215" cy="57067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300" i="1" u="sng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Presentation on React JS </a:t>
            </a:r>
            <a:endParaRPr lang="en-US" sz="3300" i="1" u="sng" dirty="0"/>
          </a:p>
        </p:txBody>
      </p:sp>
      <p:sp>
        <p:nvSpPr>
          <p:cNvPr id="5" name="Text 2"/>
          <p:cNvSpPr/>
          <p:nvPr/>
        </p:nvSpPr>
        <p:spPr>
          <a:xfrm>
            <a:off x="914400" y="257175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62915"/>
            <a:ext cx="685800" cy="51435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651885"/>
            <a:ext cx="685800" cy="5143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5852160" y="375475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5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1FBA060B-C0FD-946A-FFB1-825776B86E90}"/>
              </a:ext>
            </a:extLst>
          </p:cNvPr>
          <p:cNvSpPr/>
          <p:nvPr/>
        </p:nvSpPr>
        <p:spPr>
          <a:xfrm>
            <a:off x="1878539" y="1581149"/>
            <a:ext cx="5296961" cy="105859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Laxmi Devi Institute of Engineering &amp; Technology</a:t>
            </a:r>
            <a:endParaRPr lang="en-US" sz="3300" dirty="0"/>
          </a:p>
        </p:txBody>
      </p:sp>
      <p:pic>
        <p:nvPicPr>
          <p:cNvPr id="1026" name="Picture 2" descr="Best Engineering College in Rajasthan - Laxmi Devi Institute of Engineering  &amp; Technology">
            <a:extLst>
              <a:ext uri="{FF2B5EF4-FFF2-40B4-BE49-F238E27FC236}">
                <a16:creationId xmlns:a16="http://schemas.microsoft.com/office/drawing/2014/main" id="{48CA4586-702B-1983-D061-2BA668F30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656" y="-329251"/>
            <a:ext cx="2578740" cy="220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CCA4BBB2-ECDD-2B42-F4A5-03BB7B7270AE}"/>
              </a:ext>
            </a:extLst>
          </p:cNvPr>
          <p:cNvSpPr/>
          <p:nvPr/>
        </p:nvSpPr>
        <p:spPr>
          <a:xfrm>
            <a:off x="380236" y="360686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u="sng" dirty="0"/>
              <a:t>Submitted By:-</a:t>
            </a: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BD5F78E-6461-FC36-F4D2-BC738E9B014D}"/>
              </a:ext>
            </a:extLst>
          </p:cNvPr>
          <p:cNvSpPr/>
          <p:nvPr/>
        </p:nvSpPr>
        <p:spPr>
          <a:xfrm>
            <a:off x="328711" y="41408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 err="1"/>
              <a:t>B.Tech</a:t>
            </a:r>
            <a:r>
              <a:rPr lang="en-US" dirty="0"/>
              <a:t> 3</a:t>
            </a:r>
            <a:r>
              <a:rPr lang="en-US" baseline="30000" dirty="0"/>
              <a:t>rd</a:t>
            </a:r>
            <a:r>
              <a:rPr lang="en-US" dirty="0"/>
              <a:t> Year</a:t>
            </a: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D89BC153-9AF3-88C4-9386-5AE12D0C159F}"/>
              </a:ext>
            </a:extLst>
          </p:cNvPr>
          <p:cNvSpPr/>
          <p:nvPr/>
        </p:nvSpPr>
        <p:spPr>
          <a:xfrm>
            <a:off x="316662" y="3865615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/>
              <a:t>Avnish Kumar</a:t>
            </a: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1255024-4B38-A8C9-AC61-6F16B1C658AB}"/>
              </a:ext>
            </a:extLst>
          </p:cNvPr>
          <p:cNvSpPr/>
          <p:nvPr/>
        </p:nvSpPr>
        <p:spPr>
          <a:xfrm>
            <a:off x="6547490" y="3629889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u="sng" dirty="0"/>
              <a:t>Submitted To:-</a:t>
            </a: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0281F59A-6716-F313-AF49-1156B3246D17}"/>
              </a:ext>
            </a:extLst>
          </p:cNvPr>
          <p:cNvSpPr/>
          <p:nvPr/>
        </p:nvSpPr>
        <p:spPr>
          <a:xfrm>
            <a:off x="6555170" y="3900699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/>
              <a:t>Mr. Atul Gaur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D1EFA3C5-83F9-D46E-D93C-0A9531E155E5}"/>
              </a:ext>
            </a:extLst>
          </p:cNvPr>
          <p:cNvSpPr/>
          <p:nvPr/>
        </p:nvSpPr>
        <p:spPr>
          <a:xfrm>
            <a:off x="361950" y="149859"/>
            <a:ext cx="8229600" cy="514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7A3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" pitchFamily="34" charset="0"/>
                <a:ea typeface="Plus Jakarta Sans" pitchFamily="34" charset="-122"/>
              </a:rPr>
              <a:t>React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BCFF5D-78AC-DE52-54D2-F2D60060DD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87" r="12488"/>
          <a:stretch/>
        </p:blipFill>
        <p:spPr>
          <a:xfrm>
            <a:off x="212726" y="775967"/>
            <a:ext cx="2993890" cy="2677162"/>
          </a:xfrm>
          <a:prstGeom prst="rect">
            <a:avLst/>
          </a:prstGeom>
          <a:ln>
            <a:solidFill>
              <a:schemeClr val="accent6"/>
            </a:solidFill>
            <a:prstDash val="dashDot"/>
          </a:ln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716ADFF2-C81B-B98A-56D1-A32F5697AF4D}"/>
              </a:ext>
            </a:extLst>
          </p:cNvPr>
          <p:cNvSpPr/>
          <p:nvPr/>
        </p:nvSpPr>
        <p:spPr>
          <a:xfrm>
            <a:off x="101228" y="3936996"/>
            <a:ext cx="3105388" cy="58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Jordan Walke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React was released first in 2013</a:t>
            </a: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81D7EC9F-70EB-378C-4FC0-607B6CD4BEAF}"/>
              </a:ext>
            </a:extLst>
          </p:cNvPr>
          <p:cNvSpPr/>
          <p:nvPr/>
        </p:nvSpPr>
        <p:spPr>
          <a:xfrm>
            <a:off x="3708400" y="857250"/>
            <a:ext cx="5222874" cy="193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React was created by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Jordan Walke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, a software engineer at Meta, who initially developed a prototype called "F-Bolt" before later renaming it to "FaxJS". This early version is documented in Jordan Walke's GitHub repository. Influences for the project included XHP, an HTML component library for PHP.</a:t>
            </a:r>
            <a:endParaRPr lang="en-US" dirty="0">
              <a:solidFill>
                <a:srgbClr val="17A33E"/>
              </a:solidFill>
              <a:latin typeface="Plus Jakarta Sans SemiBold" pitchFamily="34" charset="0"/>
              <a:ea typeface="Plus Jakarta Sans SemiBold" pitchFamily="34" charset="-122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4C5F6326-3C7C-123C-1CED-68ED54CB439B}"/>
              </a:ext>
            </a:extLst>
          </p:cNvPr>
          <p:cNvSpPr/>
          <p:nvPr/>
        </p:nvSpPr>
        <p:spPr>
          <a:xfrm>
            <a:off x="4241936" y="2881625"/>
            <a:ext cx="4330700" cy="58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Company which using react js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A21D416-DF27-CB00-847F-8C96C6F67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822" y="3296492"/>
            <a:ext cx="1790564" cy="179056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D0676CA-B84E-0E6C-3023-64DA3FF8DC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6683" y="3710332"/>
            <a:ext cx="1037527" cy="103752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DD9B37F-8EF7-F930-509F-E2CC29DD65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368" y="3710332"/>
            <a:ext cx="762182" cy="9033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6291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28587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33731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38874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3731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33731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 Started with React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05740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10883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6027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108835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108835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Choose React?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282892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88036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93179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880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/>
              <a:t>React Environment Setup </a:t>
            </a:r>
          </a:p>
        </p:txBody>
      </p:sp>
      <p:sp>
        <p:nvSpPr>
          <p:cNvPr id="19" name="Shape 16"/>
          <p:cNvSpPr/>
          <p:nvPr/>
        </p:nvSpPr>
        <p:spPr>
          <a:xfrm>
            <a:off x="731520" y="360045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" y="365188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70332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651885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651885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React File Structure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0" y="128587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92040" y="133731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138874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37760" y="133731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94960" y="133731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Components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029200" y="205740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92040" y="210883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37760" y="216027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0" y="2108835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94960" y="2108835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JSX Unleashed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029200" y="282892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92040" y="288036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37760" y="293179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37760" y="2880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39496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Hooks in React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029200" y="360045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92040" y="365188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37760" y="370332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37760" y="3651885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394960" y="3651885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React Router Dom</a:t>
            </a:r>
            <a:endParaRPr lang="en-US" sz="14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BD74A4E6-15EA-F311-F7A3-5A12479038F2}"/>
              </a:ext>
            </a:extLst>
          </p:cNvPr>
          <p:cNvSpPr/>
          <p:nvPr/>
        </p:nvSpPr>
        <p:spPr>
          <a:xfrm>
            <a:off x="739198" y="4384381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6690929C-5E19-D93E-9B5C-9729A4133A6B}"/>
              </a:ext>
            </a:extLst>
          </p:cNvPr>
          <p:cNvSpPr/>
          <p:nvPr/>
        </p:nvSpPr>
        <p:spPr>
          <a:xfrm>
            <a:off x="647758" y="4487251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5DA8A902-082E-758B-3841-1F7550C2F01A}"/>
              </a:ext>
            </a:extLst>
          </p:cNvPr>
          <p:cNvSpPr/>
          <p:nvPr/>
        </p:nvSpPr>
        <p:spPr>
          <a:xfrm>
            <a:off x="1104958" y="44358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Context API</a:t>
            </a:r>
            <a:endParaRPr lang="en-US" sz="140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BF4196AC-476A-56FC-2FAC-5C137257BFBD}"/>
              </a:ext>
            </a:extLst>
          </p:cNvPr>
          <p:cNvSpPr/>
          <p:nvPr/>
        </p:nvSpPr>
        <p:spPr>
          <a:xfrm>
            <a:off x="5036878" y="4390959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30B70BF4-50B0-41EC-1534-584B2D19CAA8}"/>
              </a:ext>
            </a:extLst>
          </p:cNvPr>
          <p:cNvSpPr/>
          <p:nvPr/>
        </p:nvSpPr>
        <p:spPr>
          <a:xfrm>
            <a:off x="4945438" y="4493829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B2D36925-EDCF-F1A8-8CA5-AA70A4873FCB}"/>
              </a:ext>
            </a:extLst>
          </p:cNvPr>
          <p:cNvSpPr/>
          <p:nvPr/>
        </p:nvSpPr>
        <p:spPr>
          <a:xfrm>
            <a:off x="4945438" y="444239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</a:rPr>
              <a:t>10</a:t>
            </a:r>
            <a:endParaRPr lang="en-US" sz="1400" dirty="0"/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22C7B99F-C1B9-F7AC-CA84-20EE1FD2ABFC}"/>
              </a:ext>
            </a:extLst>
          </p:cNvPr>
          <p:cNvSpPr/>
          <p:nvPr/>
        </p:nvSpPr>
        <p:spPr>
          <a:xfrm>
            <a:off x="5402638" y="444239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Testing Your React Application</a:t>
            </a:r>
            <a:endParaRPr lang="en-US" sz="14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0BBB5706-F34D-25BA-9A23-E0FB8185F654}"/>
              </a:ext>
            </a:extLst>
          </p:cNvPr>
          <p:cNvSpPr/>
          <p:nvPr/>
        </p:nvSpPr>
        <p:spPr>
          <a:xfrm>
            <a:off x="628020" y="443581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Get Started with React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28700"/>
            <a:ext cx="1188720" cy="3600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735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54880" y="169735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9832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298323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69735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is React?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169735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298323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Component-Based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2160" y="298323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Virtual DOM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5448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React is a popular JavaScript library for building user interfaces, primarily for single-page applications. It allows developers to create reusable...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Key features of React include JSX syntax, a declarative style, and lifecycle methods. These features increase developer productivity and help...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554480" y="334327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React promotes a component-based architecture, meaning that UIs are built as independent and reusable pieces. This makes it easier to...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0" y="334327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Virtual DOM is a lightweight copy of the actual DOM. React updates the Virtual DOM first, then synchronizes it...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400" y="1851660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1851660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3137535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3137535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Choose React?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74320" y="1028700"/>
            <a:ext cx="3246120" cy="488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Advantages of Using React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520440" y="1285875"/>
            <a:ext cx="228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105853"/>
            <a:ext cx="365760" cy="360045"/>
          </a:xfrm>
          <a:prstGeom prst="ellipse">
            <a:avLst/>
          </a:prstGeom>
          <a:solidFill>
            <a:srgbClr val="0A9C85"/>
          </a:solidFill>
          <a:ln w="12700">
            <a:solidFill>
              <a:srgbClr val="0A9C8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167575"/>
            <a:ext cx="182880" cy="2057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645920"/>
            <a:ext cx="3931920" cy="2777490"/>
          </a:xfrm>
          <a:prstGeom prst="roundRect">
            <a:avLst>
              <a:gd name="adj" fmla="val 3292"/>
            </a:avLst>
          </a:prstGeom>
          <a:solidFill>
            <a:srgbClr val="E6FFE7"/>
          </a:solidFill>
          <a:ln w="12700">
            <a:solidFill>
              <a:srgbClr val="A9A9A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1028700"/>
            <a:ext cx="3602736" cy="488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Disadvantages of Using React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66176" y="1285875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21040" y="1105853"/>
            <a:ext cx="365760" cy="360045"/>
          </a:xfrm>
          <a:prstGeom prst="ellipse">
            <a:avLst/>
          </a:prstGeom>
          <a:solidFill>
            <a:srgbClr val="DA2828"/>
          </a:solidFill>
          <a:ln w="12700">
            <a:solidFill>
              <a:srgbClr val="DA282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183005"/>
            <a:ext cx="182880" cy="2057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1645920"/>
            <a:ext cx="3931920" cy="2777490"/>
          </a:xfrm>
          <a:prstGeom prst="roundRect">
            <a:avLst>
              <a:gd name="adj" fmla="val 3292"/>
            </a:avLst>
          </a:prstGeom>
          <a:solidFill>
            <a:srgbClr val="E6FFE7"/>
          </a:solidFill>
          <a:ln w="12700">
            <a:solidFill>
              <a:srgbClr val="A9A9A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20574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85800" lvl="1" indent="-342900">
              <a:lnSpc>
                <a:spcPts val="12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 offers a virtual DOM which enhances performance by efficiently updating and rendering UI components as needed.</a:t>
            </a:r>
            <a:endParaRPr lang="en-US" sz="1000" dirty="0"/>
          </a:p>
          <a:p>
            <a:pPr marL="685800" lvl="1" indent="-342900">
              <a:lnSpc>
                <a:spcPts val="12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promotes reusable components, allowing developers to build a library of components leading to faster development.</a:t>
            </a:r>
            <a:endParaRPr lang="en-US" sz="1000" dirty="0"/>
          </a:p>
          <a:p>
            <a:pPr marL="685800" lvl="1" indent="-342900">
              <a:lnSpc>
                <a:spcPts val="12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React's strong community support and vast ecosystem provide a wealth of resources for troubleshooting and best practices.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54880" y="20574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85800" lvl="1" indent="-342900">
              <a:lnSpc>
                <a:spcPts val="12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React's frequent updates can lead to breaking changes that may require additional time and effort to adapt.</a:t>
            </a:r>
            <a:endParaRPr lang="en-US" sz="1000" dirty="0"/>
          </a:p>
          <a:p>
            <a:pPr marL="685800" lvl="1" indent="-342900">
              <a:lnSpc>
                <a:spcPts val="12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learning curve for new developers can be steep, especially for understanding JSX and component lifecycle.</a:t>
            </a:r>
            <a:endParaRPr lang="en-US" sz="1000" dirty="0"/>
          </a:p>
          <a:p>
            <a:pPr marL="685800" lvl="1" indent="-342900">
              <a:lnSpc>
                <a:spcPts val="12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 requires additional libraries for state management and routing, unlike some frameworks that are more all-inclusive.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154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React Environment Setup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17731" y="1285875"/>
            <a:ext cx="8634173" cy="536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  <a:spcAft>
                <a:spcPts val="1200"/>
              </a:spcAft>
              <a:buSzPct val="100000"/>
            </a:pPr>
            <a:r>
              <a:rPr lang="en-US" sz="1600" b="0" i="0" dirty="0">
                <a:effectLst/>
                <a:latin typeface="Montserrat" panose="00000500000000000000" pitchFamily="2" charset="0"/>
              </a:rPr>
              <a:t>There are two ways to set up an environment for successful ReactJS application. They are given below.</a:t>
            </a:r>
            <a:endParaRPr lang="en-IN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  <a:spcAft>
                <a:spcPts val="1200"/>
              </a:spcAft>
              <a:buSzPct val="100000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5493F-9254-C6FE-2EB9-006E2C1B9918}"/>
              </a:ext>
            </a:extLst>
          </p:cNvPr>
          <p:cNvSpPr txBox="1"/>
          <p:nvPr/>
        </p:nvSpPr>
        <p:spPr>
          <a:xfrm>
            <a:off x="1766471" y="22482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Using the npm command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Using the create-react-app command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921AB-5B82-A5BC-3E48-A9E5EBD16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25" y="3663360"/>
            <a:ext cx="8532928" cy="1122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8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5143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React File Structure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606040" y="1363028"/>
            <a:ext cx="12801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363028"/>
            <a:ext cx="12801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1363028"/>
            <a:ext cx="12801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63440" y="272605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66560" y="272605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15098" y="1764392"/>
            <a:ext cx="21374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The node_modules folder is </a:t>
            </a:r>
            <a:r>
              <a:rPr lang="en-US" sz="1200" b="0" i="0" dirty="0">
                <a:solidFill>
                  <a:srgbClr val="040C28"/>
                </a:solidFill>
                <a:effectLst/>
                <a:latin typeface="Google Sans"/>
              </a:rPr>
              <a:t>where your project dependencies are stored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, common knowledge. Its weight is also common knowledge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468880" y="3034665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663440" y="3034665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66560" y="3034665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D937906-735D-E5D9-8EEB-F1E97B460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006" y="684424"/>
            <a:ext cx="2593603" cy="4150159"/>
          </a:xfrm>
          <a:prstGeom prst="rect">
            <a:avLst/>
          </a:prstGeom>
        </p:spPr>
      </p:pic>
      <p:sp>
        <p:nvSpPr>
          <p:cNvPr id="28" name="Text 18">
            <a:extLst>
              <a:ext uri="{FF2B5EF4-FFF2-40B4-BE49-F238E27FC236}">
                <a16:creationId xmlns:a16="http://schemas.microsoft.com/office/drawing/2014/main" id="{B85A2770-7D4A-D686-F3A4-6B5E3EB47924}"/>
              </a:ext>
            </a:extLst>
          </p:cNvPr>
          <p:cNvSpPr/>
          <p:nvPr/>
        </p:nvSpPr>
        <p:spPr>
          <a:xfrm>
            <a:off x="151392" y="3759762"/>
            <a:ext cx="266262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The public folder in a ReactJS project is </a:t>
            </a:r>
            <a:r>
              <a:rPr lang="en-US" sz="1200" b="0" i="0" dirty="0">
                <a:solidFill>
                  <a:srgbClr val="040C28"/>
                </a:solidFill>
                <a:effectLst/>
                <a:latin typeface="Google Sans"/>
              </a:rPr>
              <a:t>used to store static assets that can be accessed directly by the browser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. This includes images, fonts, JavaScript files, and other resources that don't need to be processed by the Webpack bundler</a:t>
            </a:r>
            <a:endParaRPr lang="en-US" sz="12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A8A78BE-06A0-2721-EFD9-DD32F15783B5}"/>
              </a:ext>
            </a:extLst>
          </p:cNvPr>
          <p:cNvSpPr/>
          <p:nvPr/>
        </p:nvSpPr>
        <p:spPr>
          <a:xfrm>
            <a:off x="2937566" y="3759762"/>
            <a:ext cx="21374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The src Directory. In general, the src directory </a:t>
            </a:r>
            <a:r>
              <a:rPr lang="en-US" sz="1200" b="0" i="0" dirty="0">
                <a:solidFill>
                  <a:srgbClr val="040C28"/>
                </a:solidFill>
                <a:effectLst/>
                <a:latin typeface="Google Sans"/>
              </a:rPr>
              <a:t>contains the source files needed for application development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.</a:t>
            </a:r>
            <a:endParaRPr lang="en-US" sz="12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311CC5BA-8BA0-1E6F-F6B3-466AEB2D27FB}"/>
              </a:ext>
            </a:extLst>
          </p:cNvPr>
          <p:cNvSpPr/>
          <p:nvPr/>
        </p:nvSpPr>
        <p:spPr>
          <a:xfrm>
            <a:off x="2937566" y="1764061"/>
            <a:ext cx="2997344" cy="828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Google Sans"/>
              </a:rPr>
              <a:t>P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ackage.json is </a:t>
            </a:r>
            <a:r>
              <a:rPr lang="en-US" sz="1200" b="0" i="0" dirty="0">
                <a:solidFill>
                  <a:srgbClr val="040C28"/>
                </a:solidFill>
                <a:effectLst/>
                <a:latin typeface="Google Sans"/>
              </a:rPr>
              <a:t>a metadata file in a Node.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 </a:t>
            </a:r>
            <a:r>
              <a:rPr lang="en-US" sz="1200" b="0" i="0" dirty="0">
                <a:solidFill>
                  <a:srgbClr val="040C28"/>
                </a:solidFill>
                <a:effectLst/>
                <a:latin typeface="Google Sans"/>
              </a:rPr>
              <a:t>js project that describes the project's dependencies, scripts, configuration, and other details</a:t>
            </a:r>
            <a:r>
              <a:rPr lang="en-US" sz="1200" b="0" i="0" dirty="0">
                <a:solidFill>
                  <a:srgbClr val="474747"/>
                </a:solidFill>
                <a:effectLst/>
                <a:latin typeface="Google Sans"/>
              </a:rPr>
              <a:t>. It typically contains information about the project such as its name, version, author, and license. It also lists the project's dependencies on other Node.</a:t>
            </a:r>
            <a:endParaRPr lang="en-US" sz="12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986436F-5131-058A-8C37-538E20529F36}"/>
              </a:ext>
            </a:extLst>
          </p:cNvPr>
          <p:cNvSpPr/>
          <p:nvPr/>
        </p:nvSpPr>
        <p:spPr>
          <a:xfrm>
            <a:off x="225628" y="1236741"/>
            <a:ext cx="1828800" cy="436191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25F0F3-0935-0EF2-B617-E17DEC86E985}"/>
              </a:ext>
            </a:extLst>
          </p:cNvPr>
          <p:cNvSpPr txBox="1"/>
          <p:nvPr/>
        </p:nvSpPr>
        <p:spPr>
          <a:xfrm>
            <a:off x="380682" y="1280061"/>
            <a:ext cx="1761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Node_modules</a:t>
            </a:r>
            <a:endParaRPr lang="en-US" sz="160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C95D78D8-7271-CEE5-E43E-F4EBF95D795D}"/>
              </a:ext>
            </a:extLst>
          </p:cNvPr>
          <p:cNvSpPr/>
          <p:nvPr/>
        </p:nvSpPr>
        <p:spPr>
          <a:xfrm>
            <a:off x="229766" y="3095304"/>
            <a:ext cx="1828800" cy="436191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0FC572-CCEE-73EB-72F7-1339B8533CB2}"/>
              </a:ext>
            </a:extLst>
          </p:cNvPr>
          <p:cNvSpPr txBox="1"/>
          <p:nvPr/>
        </p:nvSpPr>
        <p:spPr>
          <a:xfrm>
            <a:off x="761051" y="3138349"/>
            <a:ext cx="1761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Public</a:t>
            </a:r>
            <a:endParaRPr lang="en-US" sz="1600" dirty="0"/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9CFEE534-B97B-FB6A-3490-F7252EAAFBDA}"/>
              </a:ext>
            </a:extLst>
          </p:cNvPr>
          <p:cNvSpPr/>
          <p:nvPr/>
        </p:nvSpPr>
        <p:spPr>
          <a:xfrm>
            <a:off x="3009337" y="1245610"/>
            <a:ext cx="1828800" cy="436191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DB8050-F7CF-157F-0FBF-65DF0F2F5471}"/>
              </a:ext>
            </a:extLst>
          </p:cNvPr>
          <p:cNvSpPr txBox="1"/>
          <p:nvPr/>
        </p:nvSpPr>
        <p:spPr>
          <a:xfrm>
            <a:off x="3336119" y="1289343"/>
            <a:ext cx="1761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Package.json</a:t>
            </a:r>
            <a:endParaRPr lang="en-US" sz="1600" dirty="0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7E90EDEC-3DB7-7DEA-BE14-1AEC665CBA52}"/>
              </a:ext>
            </a:extLst>
          </p:cNvPr>
          <p:cNvSpPr/>
          <p:nvPr/>
        </p:nvSpPr>
        <p:spPr>
          <a:xfrm>
            <a:off x="3002101" y="3096406"/>
            <a:ext cx="1828800" cy="436191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6B8437-63E0-FB29-82CE-5F96A4050734}"/>
              </a:ext>
            </a:extLst>
          </p:cNvPr>
          <p:cNvSpPr txBox="1"/>
          <p:nvPr/>
        </p:nvSpPr>
        <p:spPr>
          <a:xfrm>
            <a:off x="3695998" y="3134165"/>
            <a:ext cx="1761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Src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856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Components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57200" y="840567"/>
            <a:ext cx="8443399" cy="1096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0" i="0" dirty="0">
                <a:effectLst/>
                <a:latin typeface="Montserrat" panose="00000500000000000000" pitchFamily="2" charset="0"/>
              </a:rPr>
              <a:t>Components let you split the UI into independent, reusable pieces, and think about each piece in isolation. This page provides an introduction to the idea of components.</a:t>
            </a:r>
            <a:endParaRPr lang="en-IN" sz="15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15200" y="375475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4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9FD4718-9A9E-DFA4-F391-3BDD53BB4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75098"/>
            <a:ext cx="8443399" cy="11581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0030F7A-ECA6-D549-E545-2E7A1A42F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92828"/>
            <a:ext cx="8443399" cy="1376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JSX Unleashed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118300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4720" y="118300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832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298323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18300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Easy Syntax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18300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Dynamic Rendering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98323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Component Magic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98323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JSX Benefits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54305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JSX provides a clean and concise syntax that closely resembles HTML, making it easier for developers to write...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54305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With JSX, rendering dynamic content becomes straightforward, allowing developers to embed JavaScript expressions inside curly braces for seamless...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34327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JSX enhances the power of React components by allowing for a declarative way to describe UIs, promoting reusable...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334327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use of JSX accelerates development speed, reduces complexity in codebases, and provides a more readable format for...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1337310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337310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137535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3137535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1388745"/>
            <a:ext cx="1920240" cy="293179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0" descr="https://images.pexels.com/photos/12899162/pexels-photo-12899162.jpeg?auto=compress&amp;cs=tinysrgb&amp;fit=crop&amp;h=1200&amp;w=8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440180"/>
            <a:ext cx="1828800" cy="28289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0" y="375475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5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Hooks in React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199" y="97726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Hooks were added to React in version 16.8.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199" y="1460599"/>
            <a:ext cx="83249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Hooks allow function components to have access to state and other React features. Because of this, class components are generally no longer needed.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861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2133" y="2023110"/>
            <a:ext cx="82296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Hooks allow us to "hook" into React features such as state and lifecycle methods.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94665" y="308610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E5FFE6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0532" y="308610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E5FFE6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11069" y="308610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E5FFE6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665" y="4294823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E5FFE6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665" y="3076431"/>
            <a:ext cx="1371600" cy="408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useState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90532" y="3087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useEffect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14037" y="414909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10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11069" y="3094673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useContext</a:t>
            </a:r>
            <a:endParaRPr lang="en-US" sz="15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AED55642-AB92-EF9A-6456-07E0A0B0B80E}"/>
              </a:ext>
            </a:extLst>
          </p:cNvPr>
          <p:cNvSpPr/>
          <p:nvPr/>
        </p:nvSpPr>
        <p:spPr>
          <a:xfrm>
            <a:off x="5511069" y="4294823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E5FFE6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81A177E6-4784-ABAA-EA85-AA18D2209170}"/>
              </a:ext>
            </a:extLst>
          </p:cNvPr>
          <p:cNvSpPr/>
          <p:nvPr/>
        </p:nvSpPr>
        <p:spPr>
          <a:xfrm>
            <a:off x="3200400" y="4296845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E5FFE6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EF0FFEC-AA43-5A42-D0E3-597013F7D430}"/>
              </a:ext>
            </a:extLst>
          </p:cNvPr>
          <p:cNvSpPr/>
          <p:nvPr/>
        </p:nvSpPr>
        <p:spPr>
          <a:xfrm>
            <a:off x="888087" y="429684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useref</a:t>
            </a:r>
            <a:endParaRPr lang="en-US" sz="15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835EDA5-B5E5-3327-B304-D667EF92CDC2}"/>
              </a:ext>
            </a:extLst>
          </p:cNvPr>
          <p:cNvSpPr/>
          <p:nvPr/>
        </p:nvSpPr>
        <p:spPr>
          <a:xfrm>
            <a:off x="3205334" y="4294311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useMemo</a:t>
            </a:r>
            <a:endParaRPr lang="en-US" sz="15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578C3242-AB14-84EB-FD1C-BA7D60266588}"/>
              </a:ext>
            </a:extLst>
          </p:cNvPr>
          <p:cNvSpPr/>
          <p:nvPr/>
        </p:nvSpPr>
        <p:spPr>
          <a:xfrm>
            <a:off x="5512713" y="428925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useCallback</a:t>
            </a:r>
            <a:endParaRPr lang="en-US" sz="15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31D7EDD7-1C1B-40A1-3210-849691DE870A}"/>
              </a:ext>
            </a:extLst>
          </p:cNvPr>
          <p:cNvSpPr/>
          <p:nvPr/>
        </p:nvSpPr>
        <p:spPr>
          <a:xfrm>
            <a:off x="462133" y="2410867"/>
            <a:ext cx="82296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must impor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t Hooks from react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410153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54880" y="41416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7727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276614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41930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useState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42331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useEffect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277272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useContext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2160" y="2766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useMemo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54480" y="613304"/>
            <a:ext cx="2926080" cy="6397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/>
              <a:t>The react useState Hooks allows us to track state in a function component.</a:t>
            </a:r>
          </a:p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/>
              <a:t>State generally refers to data or properties that need to be tracking  in an application.</a:t>
            </a:r>
          </a:p>
        </p:txBody>
      </p:sp>
      <p:sp>
        <p:nvSpPr>
          <p:cNvPr id="13" name="Text 10"/>
          <p:cNvSpPr/>
          <p:nvPr/>
        </p:nvSpPr>
        <p:spPr>
          <a:xfrm>
            <a:off x="5852160" y="626460"/>
            <a:ext cx="2926080" cy="879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</a:rPr>
              <a:t>The useEffect Hook allows you to perform side effects in your component.</a:t>
            </a:r>
          </a:p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</a:rPr>
              <a:t>UseEffect accepts two </a:t>
            </a:r>
            <a:r>
              <a:rPr lang="en-US" sz="1000" dirty="0" err="1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</a:rPr>
              <a:t>arguments.The</a:t>
            </a:r>
            <a:r>
              <a:rPr lang="en-US" sz="10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</a:rPr>
              <a:t> Second argument is optional.</a:t>
            </a:r>
          </a:p>
        </p:txBody>
      </p:sp>
      <p:sp>
        <p:nvSpPr>
          <p:cNvPr id="14" name="Text 11"/>
          <p:cNvSpPr/>
          <p:nvPr/>
        </p:nvSpPr>
        <p:spPr>
          <a:xfrm>
            <a:off x="1554480" y="3001203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/>
              <a:t>React Context is a way to  manage state globally.</a:t>
            </a:r>
          </a:p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/>
              <a:t>It can be used together with the useState Hook to share between deeply nested components more easily than with useState alone.</a:t>
            </a:r>
          </a:p>
        </p:txBody>
      </p:sp>
      <p:sp>
        <p:nvSpPr>
          <p:cNvPr id="15" name="Text 12"/>
          <p:cNvSpPr/>
          <p:nvPr/>
        </p:nvSpPr>
        <p:spPr>
          <a:xfrm>
            <a:off x="5852160" y="3001200"/>
            <a:ext cx="2926080" cy="862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/>
              <a:t>The useMemo Hook only runs when one of its dependencies update.</a:t>
            </a:r>
          </a:p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000" dirty="0"/>
              <a:t>The React useMemo Hook returns a </a:t>
            </a:r>
            <a:r>
              <a:rPr lang="en-US" sz="1000" dirty="0" err="1"/>
              <a:t>memozied</a:t>
            </a:r>
            <a:r>
              <a:rPr lang="en-US" sz="1000" dirty="0"/>
              <a:t> values.</a:t>
            </a:r>
          </a:p>
        </p:txBody>
      </p:sp>
      <p:sp>
        <p:nvSpPr>
          <p:cNvPr id="16" name="Shape 13"/>
          <p:cNvSpPr/>
          <p:nvPr/>
        </p:nvSpPr>
        <p:spPr>
          <a:xfrm>
            <a:off x="914400" y="551300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541039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2927027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2920449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7C05EE0-BD7D-2AF5-7792-78D98B6FA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16234"/>
            <a:ext cx="3657600" cy="937613"/>
          </a:xfrm>
          <a:prstGeom prst="rect">
            <a:avLst/>
          </a:prstGeom>
          <a:ln>
            <a:solidFill>
              <a:schemeClr val="accent6"/>
            </a:solidFill>
            <a:prstDash val="sysDot"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1117F31-CED4-85ED-D8DA-B59CBA4CF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" y="3885866"/>
            <a:ext cx="3657601" cy="1132647"/>
          </a:xfrm>
          <a:prstGeom prst="rect">
            <a:avLst/>
          </a:prstGeom>
          <a:ln>
            <a:solidFill>
              <a:schemeClr val="accent6"/>
            </a:solidFill>
            <a:prstDash val="sysDot"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7CB4E63-5028-F23D-64E9-F7AB066D3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397" y="1616234"/>
            <a:ext cx="3657600" cy="955515"/>
          </a:xfrm>
          <a:prstGeom prst="rect">
            <a:avLst/>
          </a:prstGeom>
          <a:ln>
            <a:solidFill>
              <a:schemeClr val="accent6"/>
            </a:solidFill>
            <a:prstDash val="sysDot"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879668C-CBA9-9417-FEA0-28D063555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398" y="3885866"/>
            <a:ext cx="3657600" cy="1132645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5143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React Router Dom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274321" y="1149109"/>
            <a:ext cx="4297680" cy="8603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200" dirty="0">
                <a:solidFill>
                  <a:srgbClr val="262527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Routing is essential for React applications, allowing for navigation between different components. Without routing, users would experience a static page, making navigation cumbersome.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9269B43-B155-EFD4-C1A1-83948CDB9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4857"/>
            <a:ext cx="4478283" cy="487378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</p:pic>
      <p:sp>
        <p:nvSpPr>
          <p:cNvPr id="27" name="Text 5">
            <a:extLst>
              <a:ext uri="{FF2B5EF4-FFF2-40B4-BE49-F238E27FC236}">
                <a16:creationId xmlns:a16="http://schemas.microsoft.com/office/drawing/2014/main" id="{D5FCCF5F-C07E-FA25-0291-B06DE88F96FA}"/>
              </a:ext>
            </a:extLst>
          </p:cNvPr>
          <p:cNvSpPr/>
          <p:nvPr/>
        </p:nvSpPr>
        <p:spPr>
          <a:xfrm>
            <a:off x="292738" y="1979000"/>
            <a:ext cx="40470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BrowserRouter</a:t>
            </a:r>
            <a:endParaRPr lang="en-US" sz="16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BB70E33F-B6E2-2B89-9DA7-E4BBDA7C9A50}"/>
              </a:ext>
            </a:extLst>
          </p:cNvPr>
          <p:cNvSpPr/>
          <p:nvPr/>
        </p:nvSpPr>
        <p:spPr>
          <a:xfrm>
            <a:off x="292739" y="2214057"/>
            <a:ext cx="404704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100" b="0" i="0" dirty="0">
                <a:solidFill>
                  <a:srgbClr val="474747"/>
                </a:solidFill>
                <a:effectLst/>
                <a:latin typeface="Google Sans"/>
              </a:rPr>
              <a:t>To use the BrowserRouter component in your React application, you typically </a:t>
            </a:r>
            <a:r>
              <a:rPr lang="en-US" sz="1100" b="0" i="0" dirty="0">
                <a:solidFill>
                  <a:srgbClr val="040C28"/>
                </a:solidFill>
                <a:effectLst/>
                <a:latin typeface="Google Sans"/>
              </a:rPr>
              <a:t>wrap your entire application or a specific part of it with the BrowserRouter component</a:t>
            </a:r>
            <a:r>
              <a:rPr lang="en-US" sz="1100" b="0" i="0" dirty="0">
                <a:solidFill>
                  <a:srgbClr val="474747"/>
                </a:solidFill>
                <a:effectLst/>
                <a:latin typeface="Google Sans"/>
              </a:rPr>
              <a:t>.</a:t>
            </a:r>
          </a:p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100" b="0" i="0" dirty="0">
                <a:solidFill>
                  <a:srgbClr val="474747"/>
                </a:solidFill>
                <a:effectLst/>
                <a:latin typeface="Google Sans"/>
              </a:rPr>
              <a:t>By wrapping your application with BrowserRouter, you enable client-side routing for all child components within the router.</a:t>
            </a:r>
            <a:endParaRPr lang="en-US" sz="11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7B296F4E-338A-180A-1008-949EF7DF3086}"/>
              </a:ext>
            </a:extLst>
          </p:cNvPr>
          <p:cNvSpPr/>
          <p:nvPr/>
        </p:nvSpPr>
        <p:spPr>
          <a:xfrm>
            <a:off x="259845" y="34196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Route</a:t>
            </a:r>
            <a:endParaRPr lang="en-US" sz="16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8EEE700-440D-877C-A9A9-D240C81AAC48}"/>
              </a:ext>
            </a:extLst>
          </p:cNvPr>
          <p:cNvSpPr/>
          <p:nvPr/>
        </p:nvSpPr>
        <p:spPr>
          <a:xfrm>
            <a:off x="259844" y="3667875"/>
            <a:ext cx="41921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100" b="0" i="0" dirty="0">
                <a:solidFill>
                  <a:srgbClr val="474747"/>
                </a:solidFill>
                <a:effectLst/>
                <a:latin typeface="Google Sans"/>
              </a:rPr>
              <a:t>In a single-page React Application, routing refers to </a:t>
            </a:r>
            <a:r>
              <a:rPr lang="en-US" sz="1100" b="0" i="0" dirty="0">
                <a:solidFill>
                  <a:srgbClr val="040C28"/>
                </a:solidFill>
                <a:effectLst/>
                <a:latin typeface="Google Sans"/>
              </a:rPr>
              <a:t>the process of navigating between different pages without triggering a full page reload</a:t>
            </a:r>
            <a:r>
              <a:rPr lang="en-US" sz="1100" b="0" i="0" dirty="0">
                <a:solidFill>
                  <a:srgbClr val="474747"/>
                </a:solidFill>
                <a:effectLst/>
                <a:latin typeface="Google Sans"/>
              </a:rPr>
              <a:t>. </a:t>
            </a:r>
          </a:p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1100" b="0" i="0" dirty="0">
                <a:solidFill>
                  <a:srgbClr val="474747"/>
                </a:solidFill>
                <a:effectLst/>
                <a:latin typeface="Google Sans"/>
              </a:rPr>
              <a:t>The application initially loads a single HTML page. Then, it dynamically renders different components based on user interaction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 API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8266176" y="1285875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A6BB24F-88C1-1481-8CF5-C3A633E5DB15}"/>
              </a:ext>
            </a:extLst>
          </p:cNvPr>
          <p:cNvSpPr/>
          <p:nvPr/>
        </p:nvSpPr>
        <p:spPr>
          <a:xfrm>
            <a:off x="274320" y="869950"/>
            <a:ext cx="5637530" cy="23812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0" i="0" dirty="0">
                <a:solidFill>
                  <a:srgbClr val="0A0A23"/>
                </a:solidFill>
                <a:effectLst/>
                <a:latin typeface="Lato" panose="020F0502020204030204" pitchFamily="34" charset="0"/>
              </a:rPr>
              <a:t>The problem with prop drilling is that, as the application grows in complexity, passing data through multiple levels of components can become messy, cumbersome, and error-prone.</a:t>
            </a:r>
            <a:endParaRPr lang="en-US" sz="1200" b="0" i="0" dirty="0">
              <a:solidFill>
                <a:srgbClr val="262527"/>
              </a:solidFill>
              <a:effectLst/>
              <a:latin typeface="Plus Jakarta Sans Light" pitchFamily="34" charset="0"/>
              <a:ea typeface="Plus Jakarta Sans Light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The React Context API was released in 2018 to avoid prop drilling by simplifying state management and making sharing data across the component tree more efficient and error-free.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-apple-system"/>
              </a:rPr>
              <a:t>Context provides a way to pass data through the component tree without having to pass props down manually at every level.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BA9A13-B590-5A13-BC81-F4FD1D949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300" y="668655"/>
            <a:ext cx="2863850" cy="1579245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F73DAC-FC93-67A6-3F8D-72343F645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300" y="3333751"/>
            <a:ext cx="1358900" cy="1165224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D762BBDC-4B63-4387-A13D-D5B68BB85B0B}"/>
              </a:ext>
            </a:extLst>
          </p:cNvPr>
          <p:cNvSpPr/>
          <p:nvPr/>
        </p:nvSpPr>
        <p:spPr>
          <a:xfrm>
            <a:off x="7178675" y="2305050"/>
            <a:ext cx="419100" cy="9461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9798B7-7FFE-8C60-0F29-20514C9FF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178" y="3333751"/>
            <a:ext cx="1369972" cy="1165224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F08C6E8A-0392-490D-FF9C-389702320B3E}"/>
              </a:ext>
            </a:extLst>
          </p:cNvPr>
          <p:cNvSpPr/>
          <p:nvPr/>
        </p:nvSpPr>
        <p:spPr>
          <a:xfrm>
            <a:off x="425450" y="3434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Reference</a:t>
            </a:r>
            <a:endParaRPr lang="en-US" sz="16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756CFB71-13AA-E43F-6296-6D7022534CAD}"/>
              </a:ext>
            </a:extLst>
          </p:cNvPr>
          <p:cNvSpPr/>
          <p:nvPr/>
        </p:nvSpPr>
        <p:spPr>
          <a:xfrm>
            <a:off x="425450" y="379412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createContext(defaultValue)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someContext.Provider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someContext.Consumer</a:t>
            </a: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FAEC56BD-6209-B248-6BBC-8247C7D7EDD8}"/>
              </a:ext>
            </a:extLst>
          </p:cNvPr>
          <p:cNvSpPr/>
          <p:nvPr/>
        </p:nvSpPr>
        <p:spPr>
          <a:xfrm>
            <a:off x="3200400" y="342773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Usage</a:t>
            </a:r>
            <a:endParaRPr lang="en-US" sz="16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00488BC-1AE1-0EFE-F25B-F5CB9C45DBCA}"/>
              </a:ext>
            </a:extLst>
          </p:cNvPr>
          <p:cNvSpPr/>
          <p:nvPr/>
        </p:nvSpPr>
        <p:spPr>
          <a:xfrm>
            <a:off x="3200400" y="378777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Creating context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Importing and exporting context from a 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/>
          <p:cNvSpPr/>
          <p:nvPr/>
        </p:nvSpPr>
        <p:spPr>
          <a:xfrm>
            <a:off x="459740" y="304800"/>
            <a:ext cx="26390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createContext</a:t>
            </a:r>
            <a:r>
              <a:rPr lang="en-US" sz="1500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(defaultValue)</a:t>
            </a:r>
            <a:endParaRPr lang="en-US" b="1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C8D08AA8-B26F-B11E-DB57-5779640C820E}"/>
              </a:ext>
            </a:extLst>
          </p:cNvPr>
          <p:cNvSpPr/>
          <p:nvPr/>
        </p:nvSpPr>
        <p:spPr>
          <a:xfrm>
            <a:off x="408940" y="60325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DCB9CAE7-C4E6-68FF-7CDA-71B68E9E01C1}"/>
              </a:ext>
            </a:extLst>
          </p:cNvPr>
          <p:cNvSpPr/>
          <p:nvPr/>
        </p:nvSpPr>
        <p:spPr>
          <a:xfrm>
            <a:off x="5534660" y="304800"/>
            <a:ext cx="23850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SomeContext</a:t>
            </a:r>
            <a:r>
              <a:rPr lang="en-US" sz="1500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.</a:t>
            </a: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Provider</a:t>
            </a:r>
            <a:endParaRPr lang="en-US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7F1F6DE-DC8D-0A4C-2767-48968DE77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27" y="740410"/>
            <a:ext cx="3551673" cy="641351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6A43A-F1DF-A2CA-544C-2DFAA24F3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721" y="685931"/>
            <a:ext cx="3835329" cy="1165393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sp>
        <p:nvSpPr>
          <p:cNvPr id="39" name="Text 1">
            <a:extLst>
              <a:ext uri="{FF2B5EF4-FFF2-40B4-BE49-F238E27FC236}">
                <a16:creationId xmlns:a16="http://schemas.microsoft.com/office/drawing/2014/main" id="{209EEACA-DFCE-F106-99E2-2EC92F0551DF}"/>
              </a:ext>
            </a:extLst>
          </p:cNvPr>
          <p:cNvSpPr/>
          <p:nvPr/>
        </p:nvSpPr>
        <p:spPr>
          <a:xfrm>
            <a:off x="5387340" y="1957070"/>
            <a:ext cx="26390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someContext</a:t>
            </a:r>
            <a:r>
              <a:rPr lang="en-US" sz="1500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.</a:t>
            </a: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Consumer</a:t>
            </a:r>
            <a:endParaRPr lang="en-US" b="1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7AA32F5B-1082-4B14-AF42-4A5C412EBFA1}"/>
              </a:ext>
            </a:extLst>
          </p:cNvPr>
          <p:cNvSpPr/>
          <p:nvPr/>
        </p:nvSpPr>
        <p:spPr>
          <a:xfrm>
            <a:off x="6207382" y="3610946"/>
            <a:ext cx="1305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useContext</a:t>
            </a:r>
            <a:endParaRPr lang="en-US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F1669CD-0628-6595-722F-9D1B241FC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722" y="2337136"/>
            <a:ext cx="3879778" cy="1225214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C88C827-8220-3864-B8E2-70313D1DF0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171" y="4063235"/>
            <a:ext cx="3835329" cy="775465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sp>
        <p:nvSpPr>
          <p:cNvPr id="45" name="Text 1">
            <a:extLst>
              <a:ext uri="{FF2B5EF4-FFF2-40B4-BE49-F238E27FC236}">
                <a16:creationId xmlns:a16="http://schemas.microsoft.com/office/drawing/2014/main" id="{DC3EB22C-AAC2-C1E8-F396-881CDF55745A}"/>
              </a:ext>
            </a:extLst>
          </p:cNvPr>
          <p:cNvSpPr/>
          <p:nvPr/>
        </p:nvSpPr>
        <p:spPr>
          <a:xfrm>
            <a:off x="986790" y="1466421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createContext</a:t>
            </a:r>
            <a:endParaRPr lang="en-US" b="1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67050E8-028A-D050-D87D-7110595113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562" y="1863278"/>
            <a:ext cx="3510838" cy="775465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  <p:sp>
        <p:nvSpPr>
          <p:cNvPr id="48" name="Text 1">
            <a:extLst>
              <a:ext uri="{FF2B5EF4-FFF2-40B4-BE49-F238E27FC236}">
                <a16:creationId xmlns:a16="http://schemas.microsoft.com/office/drawing/2014/main" id="{F949061F-E587-0CE6-6F73-9E7ED58910F5}"/>
              </a:ext>
            </a:extLst>
          </p:cNvPr>
          <p:cNvSpPr/>
          <p:nvPr/>
        </p:nvSpPr>
        <p:spPr>
          <a:xfrm>
            <a:off x="986790" y="2736626"/>
            <a:ext cx="26390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Plus Jakarta Sans Medium" pitchFamily="34" charset="0"/>
                <a:ea typeface="Plus Jakarta Sans Medium" pitchFamily="34" charset="-122"/>
              </a:rPr>
              <a:t>(defaultValue)</a:t>
            </a:r>
            <a:endParaRPr lang="en-US" b="1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136B29B-C80D-9E32-01CA-251FDC459D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563" y="3166774"/>
            <a:ext cx="3510837" cy="1792921"/>
          </a:xfrm>
          <a:prstGeom prst="rect">
            <a:avLst/>
          </a:prstGeom>
          <a:ln>
            <a:solidFill>
              <a:schemeClr val="accent6"/>
            </a:solidFill>
            <a:prstDash val="sysDash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0015"/>
            <a:ext cx="7423150" cy="1108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300" b="1" u="sng" dirty="0">
                <a:solidFill>
                  <a:srgbClr val="17A3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" pitchFamily="34" charset="0"/>
                <a:ea typeface="Plus Jakarta Sans" pitchFamily="34" charset="-122"/>
              </a:rPr>
              <a:t>LAST PAGE</a:t>
            </a:r>
            <a:endParaRPr lang="en-US" sz="33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E54F513-6915-5F94-CF5F-2F2C33D068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655"/>
          <a:stretch/>
        </p:blipFill>
        <p:spPr>
          <a:xfrm>
            <a:off x="-349261" y="1155700"/>
            <a:ext cx="5466717" cy="3492500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C6D64081-EED9-C70C-56CF-81ACE39BC36F}"/>
              </a:ext>
            </a:extLst>
          </p:cNvPr>
          <p:cNvSpPr/>
          <p:nvPr/>
        </p:nvSpPr>
        <p:spPr>
          <a:xfrm>
            <a:off x="5198891" y="1474940"/>
            <a:ext cx="2759418" cy="817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Avnish Kr. Singh</a:t>
            </a:r>
            <a:endParaRPr lang="en-US" sz="24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8B6C8F11-08E8-34AE-4BB9-3CF0FC33E436}"/>
              </a:ext>
            </a:extLst>
          </p:cNvPr>
          <p:cNvSpPr/>
          <p:nvPr/>
        </p:nvSpPr>
        <p:spPr>
          <a:xfrm>
            <a:off x="5224291" y="1798790"/>
            <a:ext cx="2759418" cy="817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avnish011kumar@gmail.com</a:t>
            </a:r>
            <a:endParaRPr lang="en-US" sz="1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987C708-D4E2-FDD4-B778-EE3C6EAF0E4B}"/>
              </a:ext>
            </a:extLst>
          </p:cNvPr>
          <p:cNvSpPr/>
          <p:nvPr/>
        </p:nvSpPr>
        <p:spPr>
          <a:xfrm>
            <a:off x="5217941" y="2078190"/>
            <a:ext cx="2759418" cy="817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</a:rPr>
              <a:t>+91 9376465462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63D07C5-0AFA-5406-4B6D-979D7C67D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800" y="2486895"/>
            <a:ext cx="1422400" cy="1193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1145</Words>
  <Application>Microsoft Office PowerPoint</Application>
  <PresentationFormat>On-screen Show (16:9)</PresentationFormat>
  <Paragraphs>158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-apple-system</vt:lpstr>
      <vt:lpstr>Arial</vt:lpstr>
      <vt:lpstr>Google Sans</vt:lpstr>
      <vt:lpstr>Lato</vt:lpstr>
      <vt:lpstr>Montserrat</vt:lpstr>
      <vt:lpstr>Plus Jakarta Sans</vt:lpstr>
      <vt:lpstr>Plus Jakarta Sans Light</vt:lpstr>
      <vt:lpstr>Plus Jakarta Sans Medium</vt:lpstr>
      <vt:lpstr>Plus Jakarta Sans SemiBold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MANISH YADAV</cp:lastModifiedBy>
  <cp:revision>2</cp:revision>
  <dcterms:created xsi:type="dcterms:W3CDTF">2024-12-21T08:45:36Z</dcterms:created>
  <dcterms:modified xsi:type="dcterms:W3CDTF">2024-12-25T20:10:47Z</dcterms:modified>
</cp:coreProperties>
</file>